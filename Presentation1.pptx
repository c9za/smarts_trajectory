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1" r:id="rId8"/>
    <p:sldId id="266" r:id="rId9"/>
    <p:sldId id="263"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2" d="100"/>
          <a:sy n="72" d="100"/>
        </p:scale>
        <p:origin x="82" y="4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F404-61A7-84DE-281C-61D5770670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1C2D65-F7A6-2EF3-3AB8-A8AB450458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CDA84A-B198-F161-7660-DE7C9D788C7D}"/>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5" name="Footer Placeholder 4">
            <a:extLst>
              <a:ext uri="{FF2B5EF4-FFF2-40B4-BE49-F238E27FC236}">
                <a16:creationId xmlns:a16="http://schemas.microsoft.com/office/drawing/2014/main" id="{93F55981-B397-E11C-3FA1-4257A6804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F0C21-AC9A-4D8E-5F2C-1C50524D2BF0}"/>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3743310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001B4-2A23-EB2D-EF1A-D8B7532DF1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DB5B1-0DA9-868A-C259-6C53130163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C26A6C-A8F9-ACBB-C187-8E97F6B2982E}"/>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5" name="Footer Placeholder 4">
            <a:extLst>
              <a:ext uri="{FF2B5EF4-FFF2-40B4-BE49-F238E27FC236}">
                <a16:creationId xmlns:a16="http://schemas.microsoft.com/office/drawing/2014/main" id="{16A5D8B1-43ED-60D0-D842-190E2CCBA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7197CD-72A5-9784-7E0F-349F67F0DF00}"/>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3762994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0B343-C528-7BEB-D480-9FA459A54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48C6C1-D710-C542-5D9F-C83ECCD3C6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3B531-3E90-232C-D66E-E57E269DAC78}"/>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5" name="Footer Placeholder 4">
            <a:extLst>
              <a:ext uri="{FF2B5EF4-FFF2-40B4-BE49-F238E27FC236}">
                <a16:creationId xmlns:a16="http://schemas.microsoft.com/office/drawing/2014/main" id="{34E53516-F931-0C7C-683D-3422BFBBF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0686BA-AA6D-DAB7-126D-28B553D27FBE}"/>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2934887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9E2D-37C0-FB82-8FEC-B26425DDE4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7DF54-9C7A-D38D-5A50-A51FA482ED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0BCD23-1579-CFD4-53AD-680EE6CEDC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2B0049-80A4-3AB5-F0F6-69E63A17917E}"/>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6" name="Footer Placeholder 5">
            <a:extLst>
              <a:ext uri="{FF2B5EF4-FFF2-40B4-BE49-F238E27FC236}">
                <a16:creationId xmlns:a16="http://schemas.microsoft.com/office/drawing/2014/main" id="{3DC4FF71-409E-77A1-72A5-06DA7AFE1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9D1134-1041-7FB2-510B-F558775CFBC9}"/>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34710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199E-BD45-9A30-DEB9-A7107BB40A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5578C5-4415-6BB3-7EC8-AF5F10164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C3CBB0-967F-30E9-6C3F-0E5204C380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4E0D78-D1FB-761A-FE39-DF67100BB1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32E27B-1A26-2D6C-45FC-9EE2EE0149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244A31-98E1-9988-060F-FD0BCE7162A3}"/>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8" name="Footer Placeholder 7">
            <a:extLst>
              <a:ext uri="{FF2B5EF4-FFF2-40B4-BE49-F238E27FC236}">
                <a16:creationId xmlns:a16="http://schemas.microsoft.com/office/drawing/2014/main" id="{7FB601BF-0AE4-3304-C42A-A1FABAB94D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B7B453-B465-1C4A-FA15-DD9E346A1C48}"/>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4185333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17CA6-537F-3628-D07E-3E50DB4AEE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5A8366-46DC-3493-D0A5-C46C2C9D0A45}"/>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4" name="Footer Placeholder 3">
            <a:extLst>
              <a:ext uri="{FF2B5EF4-FFF2-40B4-BE49-F238E27FC236}">
                <a16:creationId xmlns:a16="http://schemas.microsoft.com/office/drawing/2014/main" id="{CA81B8E9-BCEE-F73E-E376-D59F24467D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39E619-E10A-D34B-CF0D-64FF22BE4E86}"/>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129178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1FC4D6-1047-9F5B-0224-DDF2EF2E58BA}"/>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3" name="Footer Placeholder 2">
            <a:extLst>
              <a:ext uri="{FF2B5EF4-FFF2-40B4-BE49-F238E27FC236}">
                <a16:creationId xmlns:a16="http://schemas.microsoft.com/office/drawing/2014/main" id="{3C998949-F09E-9D01-AACC-BF2287A931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348198-4766-2EB1-4E99-65169E2F2CB4}"/>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2973938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7152-A323-329E-5AA7-E4E4396F8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9B6ADB-97C0-9900-17B2-ADE066CAB7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793CC6-F293-8B43-F824-98CF7C869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6CF599-1806-B43E-F8FE-04C4DBF8AA75}"/>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6" name="Footer Placeholder 5">
            <a:extLst>
              <a:ext uri="{FF2B5EF4-FFF2-40B4-BE49-F238E27FC236}">
                <a16:creationId xmlns:a16="http://schemas.microsoft.com/office/drawing/2014/main" id="{CF3464D9-6B97-D821-8806-D26255D021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2926CE-4FC0-07F7-C78A-E4BF06FF92DF}"/>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4140594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2C56B-7CBF-B0D2-3B16-63149AB21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42B355-5F6F-12E2-B32D-1A3FC1FB8A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DD4415-1837-45DF-DC17-F9DEBDCF6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D46468-2229-16CE-27D3-EA43186D1B68}"/>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6" name="Footer Placeholder 5">
            <a:extLst>
              <a:ext uri="{FF2B5EF4-FFF2-40B4-BE49-F238E27FC236}">
                <a16:creationId xmlns:a16="http://schemas.microsoft.com/office/drawing/2014/main" id="{764EFCE4-CE27-33E5-95E5-0F80EA43CB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978671-6C01-E2FD-BF08-BF717D2E9DD0}"/>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421678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F2CB-D152-A905-1493-7C27E95C81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87B7D8-7699-7D56-92AB-FB10C8756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28471-355A-99B5-3D38-298AFD697176}"/>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5" name="Footer Placeholder 4">
            <a:extLst>
              <a:ext uri="{FF2B5EF4-FFF2-40B4-BE49-F238E27FC236}">
                <a16:creationId xmlns:a16="http://schemas.microsoft.com/office/drawing/2014/main" id="{1A0D34AA-E7E8-29A6-48A2-F56636D6B8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F47CC7-E27E-2940-AAD3-E026CF7D4BDE}"/>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3231580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EF3860-799D-1F6C-3FA9-C7C40A0F4D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54CD64-72CA-52A5-3EBA-9C0331321E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3F141-3A1D-6E1C-801E-114F792E6D18}"/>
              </a:ext>
            </a:extLst>
          </p:cNvPr>
          <p:cNvSpPr>
            <a:spLocks noGrp="1"/>
          </p:cNvSpPr>
          <p:nvPr>
            <p:ph type="dt" sz="half" idx="10"/>
          </p:nvPr>
        </p:nvSpPr>
        <p:spPr/>
        <p:txBody>
          <a:bodyPr/>
          <a:lstStyle/>
          <a:p>
            <a:fld id="{9646DABD-4A89-4C94-9211-16B5C8E70C4C}" type="datetimeFigureOut">
              <a:rPr lang="en-US" smtClean="0"/>
              <a:t>3/16/2026</a:t>
            </a:fld>
            <a:endParaRPr lang="en-US"/>
          </a:p>
        </p:txBody>
      </p:sp>
      <p:sp>
        <p:nvSpPr>
          <p:cNvPr id="5" name="Footer Placeholder 4">
            <a:extLst>
              <a:ext uri="{FF2B5EF4-FFF2-40B4-BE49-F238E27FC236}">
                <a16:creationId xmlns:a16="http://schemas.microsoft.com/office/drawing/2014/main" id="{364C9879-5B8E-98DF-A3B1-1BFB647E6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FB1E7-10A0-6E8F-BEB6-B6F5D49C26AB}"/>
              </a:ext>
            </a:extLst>
          </p:cNvPr>
          <p:cNvSpPr>
            <a:spLocks noGrp="1"/>
          </p:cNvSpPr>
          <p:nvPr>
            <p:ph type="sldNum" sz="quarter" idx="12"/>
          </p:nvPr>
        </p:nvSpPr>
        <p:spPr/>
        <p:txBody>
          <a:bodyPr/>
          <a:lstStyle/>
          <a:p>
            <a:fld id="{9D907810-1CCF-4B0D-B0BC-692C45935789}" type="slidenum">
              <a:rPr lang="en-US" smtClean="0"/>
              <a:t>‹#›</a:t>
            </a:fld>
            <a:endParaRPr lang="en-US"/>
          </a:p>
        </p:txBody>
      </p:sp>
    </p:spTree>
    <p:extLst>
      <p:ext uri="{BB962C8B-B14F-4D97-AF65-F5344CB8AC3E}">
        <p14:creationId xmlns:p14="http://schemas.microsoft.com/office/powerpoint/2010/main" val="167109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64A18F-A3CD-345A-3B55-8740F719FE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5757C6-852B-5F77-4CC9-9318BD51E5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CA1E9-1D48-8740-AC91-C01B65B13E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46DABD-4A89-4C94-9211-16B5C8E70C4C}" type="datetimeFigureOut">
              <a:rPr lang="en-US" smtClean="0"/>
              <a:t>3/16/2026</a:t>
            </a:fld>
            <a:endParaRPr lang="en-US"/>
          </a:p>
        </p:txBody>
      </p:sp>
      <p:sp>
        <p:nvSpPr>
          <p:cNvPr id="5" name="Footer Placeholder 4">
            <a:extLst>
              <a:ext uri="{FF2B5EF4-FFF2-40B4-BE49-F238E27FC236}">
                <a16:creationId xmlns:a16="http://schemas.microsoft.com/office/drawing/2014/main" id="{4C56F7E9-915E-E80E-9E40-2EDD175062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6AE725-C99D-B41C-4D01-DEC9819DF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907810-1CCF-4B0D-B0BC-692C45935789}" type="slidenum">
              <a:rPr lang="en-US" smtClean="0"/>
              <a:t>‹#›</a:t>
            </a:fld>
            <a:endParaRPr lang="en-US"/>
          </a:p>
        </p:txBody>
      </p:sp>
    </p:spTree>
    <p:extLst>
      <p:ext uri="{BB962C8B-B14F-4D97-AF65-F5344CB8AC3E}">
        <p14:creationId xmlns:p14="http://schemas.microsoft.com/office/powerpoint/2010/main" val="2829593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3A6C-EEEF-58BE-C04A-384AEA85C6A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12616E3-9607-EB31-3BFC-3CCE71984A9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43025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18F2-33F8-16F5-6C5F-1E95013EA234}"/>
              </a:ext>
            </a:extLst>
          </p:cNvPr>
          <p:cNvSpPr>
            <a:spLocks noGrp="1"/>
          </p:cNvSpPr>
          <p:nvPr>
            <p:ph type="title"/>
          </p:nvPr>
        </p:nvSpPr>
        <p:spPr/>
        <p:txBody>
          <a:bodyPr/>
          <a:lstStyle/>
          <a:p>
            <a:r>
              <a:rPr lang="en-US" dirty="0" err="1"/>
              <a:t>Build_tissue_roi</a:t>
            </a:r>
            <a:r>
              <a:rPr lang="en-US" dirty="0"/>
              <a:t> improvement</a:t>
            </a:r>
          </a:p>
        </p:txBody>
      </p:sp>
      <p:sp>
        <p:nvSpPr>
          <p:cNvPr id="3" name="Content Placeholder 2">
            <a:extLst>
              <a:ext uri="{FF2B5EF4-FFF2-40B4-BE49-F238E27FC236}">
                <a16:creationId xmlns:a16="http://schemas.microsoft.com/office/drawing/2014/main" id="{BEF0AFBC-EFFB-7E4B-4616-674859B76448}"/>
              </a:ext>
            </a:extLst>
          </p:cNvPr>
          <p:cNvSpPr>
            <a:spLocks noGrp="1"/>
          </p:cNvSpPr>
          <p:nvPr>
            <p:ph idx="1"/>
          </p:nvPr>
        </p:nvSpPr>
        <p:spPr/>
        <p:txBody>
          <a:bodyPr/>
          <a:lstStyle/>
          <a:p>
            <a:r>
              <a:rPr lang="en-US" dirty="0"/>
              <a:t>It used to cover too much of tissue area, add a blue cloth filter to separate tissue from surgery cloth. Now works fine, visualizable by test function</a:t>
            </a:r>
          </a:p>
        </p:txBody>
      </p:sp>
    </p:spTree>
    <p:extLst>
      <p:ext uri="{BB962C8B-B14F-4D97-AF65-F5344CB8AC3E}">
        <p14:creationId xmlns:p14="http://schemas.microsoft.com/office/powerpoint/2010/main" val="3327370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4F3BE-7BAC-587C-B0C7-2239BDA9BFB7}"/>
              </a:ext>
            </a:extLst>
          </p:cNvPr>
          <p:cNvSpPr>
            <a:spLocks noGrp="1"/>
          </p:cNvSpPr>
          <p:nvPr>
            <p:ph type="title"/>
          </p:nvPr>
        </p:nvSpPr>
        <p:spPr/>
        <p:txBody>
          <a:bodyPr/>
          <a:lstStyle/>
          <a:p>
            <a:r>
              <a:rPr lang="en-US" dirty="0" err="1"/>
              <a:t>Segment_dark_marker</a:t>
            </a:r>
            <a:r>
              <a:rPr lang="en-US" dirty="0"/>
              <a:t> construction</a:t>
            </a:r>
          </a:p>
        </p:txBody>
      </p:sp>
      <p:sp>
        <p:nvSpPr>
          <p:cNvPr id="3" name="Content Placeholder 2">
            <a:extLst>
              <a:ext uri="{FF2B5EF4-FFF2-40B4-BE49-F238E27FC236}">
                <a16:creationId xmlns:a16="http://schemas.microsoft.com/office/drawing/2014/main" id="{9E4AD84C-92D0-A6AB-59CD-90723B1B793B}"/>
              </a:ext>
            </a:extLst>
          </p:cNvPr>
          <p:cNvSpPr>
            <a:spLocks noGrp="1"/>
          </p:cNvSpPr>
          <p:nvPr>
            <p:ph idx="1"/>
          </p:nvPr>
        </p:nvSpPr>
        <p:spPr/>
        <p:txBody>
          <a:bodyPr/>
          <a:lstStyle/>
          <a:p>
            <a:pPr marL="0" indent="0">
              <a:buNone/>
            </a:pPr>
            <a:r>
              <a:rPr lang="en-US" dirty="0"/>
              <a:t>Trouble is determining the h, s, v, l threshold for the red meat. </a:t>
            </a:r>
          </a:p>
          <a:p>
            <a:pPr marL="0" indent="0">
              <a:buNone/>
            </a:pPr>
            <a:r>
              <a:rPr lang="en-US" dirty="0"/>
              <a:t>Wrote a machine learning script to manually label selected picture blob area and have parameters adjust themselves. Works terribly because thresholds narrow down to one specific values instead of a range</a:t>
            </a:r>
          </a:p>
          <a:p>
            <a:pPr marL="0" indent="0">
              <a:buNone/>
            </a:pPr>
            <a:r>
              <a:rPr lang="en-US" dirty="0"/>
              <a:t>Wrote a script to compare two area </a:t>
            </a:r>
            <a:r>
              <a:rPr lang="en-US" dirty="0" err="1"/>
              <a:t>hsvl</a:t>
            </a:r>
            <a:r>
              <a:rPr lang="en-US" dirty="0"/>
              <a:t> value by manually circling compare regions hence determine the thresholds for the ink blob. Works much better but some problems persists. Ink blob is best determined by s &gt;190, then v&lt;100, h&gt;150, l&lt;60</a:t>
            </a:r>
          </a:p>
        </p:txBody>
      </p:sp>
    </p:spTree>
    <p:extLst>
      <p:ext uri="{BB962C8B-B14F-4D97-AF65-F5344CB8AC3E}">
        <p14:creationId xmlns:p14="http://schemas.microsoft.com/office/powerpoint/2010/main" val="155260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4E113-17FA-C4C6-6DCD-E4ED1D6A199F}"/>
              </a:ext>
            </a:extLst>
          </p:cNvPr>
          <p:cNvSpPr>
            <a:spLocks noGrp="1"/>
          </p:cNvSpPr>
          <p:nvPr>
            <p:ph type="title"/>
          </p:nvPr>
        </p:nvSpPr>
        <p:spPr/>
        <p:txBody>
          <a:bodyPr/>
          <a:lstStyle/>
          <a:p>
            <a:r>
              <a:rPr lang="en-US" dirty="0" err="1"/>
              <a:t>Segmert_dark_marker</a:t>
            </a:r>
            <a:r>
              <a:rPr lang="en-US" dirty="0"/>
              <a:t> problem</a:t>
            </a:r>
          </a:p>
        </p:txBody>
      </p:sp>
      <p:pic>
        <p:nvPicPr>
          <p:cNvPr id="5" name="Content Placeholder 4">
            <a:extLst>
              <a:ext uri="{FF2B5EF4-FFF2-40B4-BE49-F238E27FC236}">
                <a16:creationId xmlns:a16="http://schemas.microsoft.com/office/drawing/2014/main" id="{78B715C2-C849-B411-5689-EAD6D3055F0E}"/>
              </a:ext>
            </a:extLst>
          </p:cNvPr>
          <p:cNvPicPr>
            <a:picLocks noGrp="1" noChangeAspect="1"/>
          </p:cNvPicPr>
          <p:nvPr>
            <p:ph idx="1"/>
          </p:nvPr>
        </p:nvPicPr>
        <p:blipFill>
          <a:blip r:embed="rId2"/>
          <a:stretch>
            <a:fillRect/>
          </a:stretch>
        </p:blipFill>
        <p:spPr>
          <a:xfrm>
            <a:off x="1294631" y="1673852"/>
            <a:ext cx="6468378" cy="2048161"/>
          </a:xfrm>
          <a:prstGeom prst="rect">
            <a:avLst/>
          </a:prstGeom>
        </p:spPr>
      </p:pic>
      <p:sp>
        <p:nvSpPr>
          <p:cNvPr id="6" name="TextBox 5">
            <a:extLst>
              <a:ext uri="{FF2B5EF4-FFF2-40B4-BE49-F238E27FC236}">
                <a16:creationId xmlns:a16="http://schemas.microsoft.com/office/drawing/2014/main" id="{DF1F03C0-F41B-CAD8-9A34-940A4FC82C39}"/>
              </a:ext>
            </a:extLst>
          </p:cNvPr>
          <p:cNvSpPr txBox="1"/>
          <p:nvPr/>
        </p:nvSpPr>
        <p:spPr>
          <a:xfrm>
            <a:off x="8219440" y="1690688"/>
            <a:ext cx="3798660" cy="1754326"/>
          </a:xfrm>
          <a:prstGeom prst="rect">
            <a:avLst/>
          </a:prstGeom>
          <a:noFill/>
        </p:spPr>
        <p:txBody>
          <a:bodyPr wrap="square" rtlCol="0">
            <a:spAutoFit/>
          </a:bodyPr>
          <a:lstStyle/>
          <a:p>
            <a:r>
              <a:rPr lang="en-US" dirty="0"/>
              <a:t>9/188, </a:t>
            </a:r>
            <a:r>
              <a:rPr lang="en-US" dirty="0" err="1"/>
              <a:t>identifen</a:t>
            </a:r>
            <a:r>
              <a:rPr lang="en-US" dirty="0"/>
              <a:t> the scissor shadow as ink blob, but correctly includes all ink blobs. Potential solution is just add more light to the surgery desk, I </a:t>
            </a:r>
            <a:r>
              <a:rPr lang="en-US" dirty="0" err="1"/>
              <a:t>beleve</a:t>
            </a:r>
            <a:r>
              <a:rPr lang="en-US" dirty="0"/>
              <a:t> this will improve all test results</a:t>
            </a:r>
          </a:p>
        </p:txBody>
      </p:sp>
      <p:pic>
        <p:nvPicPr>
          <p:cNvPr id="8" name="Picture 7">
            <a:extLst>
              <a:ext uri="{FF2B5EF4-FFF2-40B4-BE49-F238E27FC236}">
                <a16:creationId xmlns:a16="http://schemas.microsoft.com/office/drawing/2014/main" id="{3E9505E6-B874-BCFE-44F2-71A01D677618}"/>
              </a:ext>
            </a:extLst>
          </p:cNvPr>
          <p:cNvPicPr>
            <a:picLocks noChangeAspect="1"/>
          </p:cNvPicPr>
          <p:nvPr/>
        </p:nvPicPr>
        <p:blipFill>
          <a:blip r:embed="rId3"/>
          <a:stretch>
            <a:fillRect/>
          </a:stretch>
        </p:blipFill>
        <p:spPr>
          <a:xfrm>
            <a:off x="1208894" y="4093383"/>
            <a:ext cx="6639852" cy="2181529"/>
          </a:xfrm>
          <a:prstGeom prst="rect">
            <a:avLst/>
          </a:prstGeom>
        </p:spPr>
      </p:pic>
      <p:sp>
        <p:nvSpPr>
          <p:cNvPr id="9" name="TextBox 8">
            <a:extLst>
              <a:ext uri="{FF2B5EF4-FFF2-40B4-BE49-F238E27FC236}">
                <a16:creationId xmlns:a16="http://schemas.microsoft.com/office/drawing/2014/main" id="{D32DB581-D38C-81E2-E238-21896E6A1A6E}"/>
              </a:ext>
            </a:extLst>
          </p:cNvPr>
          <p:cNvSpPr txBox="1"/>
          <p:nvPr/>
        </p:nvSpPr>
        <p:spPr>
          <a:xfrm>
            <a:off x="8260080" y="3895408"/>
            <a:ext cx="3798660" cy="2585323"/>
          </a:xfrm>
          <a:prstGeom prst="rect">
            <a:avLst/>
          </a:prstGeom>
          <a:noFill/>
        </p:spPr>
        <p:txBody>
          <a:bodyPr wrap="square" rtlCol="0">
            <a:spAutoFit/>
          </a:bodyPr>
          <a:lstStyle/>
          <a:p>
            <a:r>
              <a:rPr lang="en-US" dirty="0"/>
              <a:t>34/54 and following folder, identifies shadow region of the meat as ink blob. Tried </a:t>
            </a:r>
            <a:r>
              <a:rPr lang="en-US" dirty="0" err="1"/>
              <a:t>hsvl</a:t>
            </a:r>
            <a:r>
              <a:rPr lang="en-US" dirty="0"/>
              <a:t> contrast method, couldn’t work. But this should be an easy fix in following find path function as shadow areas are too big and connected to be considered as ink blob</a:t>
            </a:r>
          </a:p>
          <a:p>
            <a:r>
              <a:rPr lang="en-US" dirty="0"/>
              <a:t>Or just get another light source</a:t>
            </a:r>
          </a:p>
        </p:txBody>
      </p:sp>
    </p:spTree>
    <p:extLst>
      <p:ext uri="{BB962C8B-B14F-4D97-AF65-F5344CB8AC3E}">
        <p14:creationId xmlns:p14="http://schemas.microsoft.com/office/powerpoint/2010/main" val="522273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F55F0-E81E-ECC8-AFE7-9B7F6A525970}"/>
              </a:ext>
            </a:extLst>
          </p:cNvPr>
          <p:cNvSpPr>
            <a:spLocks noGrp="1"/>
          </p:cNvSpPr>
          <p:nvPr>
            <p:ph type="title"/>
          </p:nvPr>
        </p:nvSpPr>
        <p:spPr/>
        <p:txBody>
          <a:bodyPr/>
          <a:lstStyle/>
          <a:p>
            <a:r>
              <a:rPr lang="en-US" dirty="0"/>
              <a:t>Trace trajectory problem	</a:t>
            </a:r>
          </a:p>
        </p:txBody>
      </p:sp>
      <p:sp>
        <p:nvSpPr>
          <p:cNvPr id="3" name="Content Placeholder 2">
            <a:extLst>
              <a:ext uri="{FF2B5EF4-FFF2-40B4-BE49-F238E27FC236}">
                <a16:creationId xmlns:a16="http://schemas.microsoft.com/office/drawing/2014/main" id="{97CD6B66-2316-92B7-E4FD-34033652373E}"/>
              </a:ext>
            </a:extLst>
          </p:cNvPr>
          <p:cNvSpPr>
            <a:spLocks noGrp="1"/>
          </p:cNvSpPr>
          <p:nvPr>
            <p:ph idx="1"/>
          </p:nvPr>
        </p:nvSpPr>
        <p:spPr/>
        <p:txBody>
          <a:bodyPr/>
          <a:lstStyle/>
          <a:p>
            <a:r>
              <a:rPr lang="en-US" dirty="0"/>
              <a:t>Old code has many problems in dark marker, unable to trace out proper trajectory over half of time. 3 main problems</a:t>
            </a:r>
          </a:p>
          <a:p>
            <a:r>
              <a:rPr lang="en-US" dirty="0"/>
              <a:t>Recognize big shadow (0.5% of whole picture as ink blob, not shadow)</a:t>
            </a:r>
          </a:p>
          <a:p>
            <a:r>
              <a:rPr lang="en-US" dirty="0"/>
              <a:t>Obsessed with connecting tiny dots and zig-zag forward</a:t>
            </a:r>
          </a:p>
          <a:p>
            <a:r>
              <a:rPr lang="en-US" dirty="0"/>
              <a:t>Unable to trace curved path</a:t>
            </a:r>
          </a:p>
        </p:txBody>
      </p:sp>
    </p:spTree>
    <p:extLst>
      <p:ext uri="{BB962C8B-B14F-4D97-AF65-F5344CB8AC3E}">
        <p14:creationId xmlns:p14="http://schemas.microsoft.com/office/powerpoint/2010/main" val="2573047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FE9AF-307A-8E9F-6225-F1F827389448}"/>
              </a:ext>
            </a:extLst>
          </p:cNvPr>
          <p:cNvSpPr>
            <a:spLocks noGrp="1"/>
          </p:cNvSpPr>
          <p:nvPr>
            <p:ph type="title"/>
          </p:nvPr>
        </p:nvSpPr>
        <p:spPr>
          <a:xfrm>
            <a:off x="838200" y="94188"/>
            <a:ext cx="10515600" cy="1325563"/>
          </a:xfrm>
        </p:spPr>
        <p:txBody>
          <a:bodyPr/>
          <a:lstStyle/>
          <a:p>
            <a:r>
              <a:rPr lang="en-US" dirty="0"/>
              <a:t>Trajectory modification for </a:t>
            </a:r>
            <a:r>
              <a:rPr lang="en-US" dirty="0" err="1"/>
              <a:t>dark_mode</a:t>
            </a:r>
            <a:r>
              <a:rPr lang="en-US" dirty="0"/>
              <a:t>:</a:t>
            </a:r>
          </a:p>
        </p:txBody>
      </p:sp>
      <p:sp>
        <p:nvSpPr>
          <p:cNvPr id="3" name="Content Placeholder 2">
            <a:extLst>
              <a:ext uri="{FF2B5EF4-FFF2-40B4-BE49-F238E27FC236}">
                <a16:creationId xmlns:a16="http://schemas.microsoft.com/office/drawing/2014/main" id="{8DAF794B-3D60-A346-FA6A-B430CB25BDAA}"/>
              </a:ext>
            </a:extLst>
          </p:cNvPr>
          <p:cNvSpPr>
            <a:spLocks noGrp="1"/>
          </p:cNvSpPr>
          <p:nvPr>
            <p:ph idx="1"/>
          </p:nvPr>
        </p:nvSpPr>
        <p:spPr>
          <a:xfrm>
            <a:off x="67733" y="1046690"/>
            <a:ext cx="11963400" cy="5717121"/>
          </a:xfrm>
        </p:spPr>
        <p:txBody>
          <a:bodyPr>
            <a:normAutofit lnSpcReduction="10000"/>
          </a:bodyPr>
          <a:lstStyle/>
          <a:p>
            <a:r>
              <a:rPr lang="en-US" sz="2300" dirty="0"/>
              <a:t>Main function </a:t>
            </a:r>
            <a:r>
              <a:rPr lang="en-US" sz="2300" dirty="0" err="1"/>
              <a:t>extract_single_path_mask</a:t>
            </a:r>
            <a:r>
              <a:rPr lang="en-US" sz="2300" dirty="0"/>
              <a:t>, takes in binary dark marker region, extract trajectory by calling functions, then use dark marker</a:t>
            </a:r>
          </a:p>
          <a:p>
            <a:r>
              <a:rPr lang="en-US" sz="2300" dirty="0"/>
              <a:t>Outer Functions called: </a:t>
            </a:r>
          </a:p>
          <a:p>
            <a:pPr marL="457200" lvl="1" indent="0">
              <a:buNone/>
            </a:pPr>
            <a:r>
              <a:rPr lang="en-US" sz="1900" dirty="0"/>
              <a:t>   </a:t>
            </a:r>
            <a:r>
              <a:rPr lang="en-US" sz="1900" dirty="0" err="1"/>
              <a:t>extract_component_anchors_with_features</a:t>
            </a:r>
            <a:r>
              <a:rPr lang="en-US" sz="1900" dirty="0"/>
              <a:t>: calculate per blob area, solidity…</a:t>
            </a:r>
          </a:p>
          <a:p>
            <a:pPr marL="457200" lvl="1" indent="0">
              <a:buNone/>
            </a:pPr>
            <a:r>
              <a:rPr lang="en-US" sz="2300" dirty="0"/>
              <a:t>  </a:t>
            </a:r>
            <a:r>
              <a:rPr lang="en-US" sz="2300" dirty="0" err="1"/>
              <a:t>suppress_shadow_components</a:t>
            </a:r>
            <a:r>
              <a:rPr lang="en-US" sz="2300" dirty="0"/>
              <a:t>: filter out shadow components</a:t>
            </a:r>
          </a:p>
          <a:p>
            <a:pPr marL="457200" lvl="1" indent="0">
              <a:buNone/>
            </a:pPr>
            <a:r>
              <a:rPr lang="en-US" sz="2300" dirty="0"/>
              <a:t>  </a:t>
            </a:r>
            <a:r>
              <a:rPr lang="en-US" sz="2300" dirty="0" err="1"/>
              <a:t>direction_constrained_chain</a:t>
            </a:r>
            <a:r>
              <a:rPr lang="en-US" sz="2300" dirty="0"/>
              <a:t>: use bellman-ford DP determine best trajectory</a:t>
            </a:r>
          </a:p>
          <a:p>
            <a:pPr marL="457200" lvl="1" indent="0">
              <a:buNone/>
            </a:pPr>
            <a:r>
              <a:rPr lang="en-US" sz="2300" dirty="0"/>
              <a:t>  </a:t>
            </a:r>
            <a:r>
              <a:rPr lang="en-US" sz="2300" dirty="0" err="1"/>
              <a:t>trim_outlier_links</a:t>
            </a:r>
            <a:r>
              <a:rPr lang="en-US" sz="2300" dirty="0"/>
              <a:t>: removes endpoints&gt; 3× P75 of significant-blob distances</a:t>
            </a:r>
          </a:p>
          <a:p>
            <a:pPr marL="457200" lvl="1" indent="0">
              <a:buNone/>
            </a:pPr>
            <a:r>
              <a:rPr lang="en-US" sz="2300" dirty="0"/>
              <a:t>  </a:t>
            </a:r>
            <a:r>
              <a:rPr lang="en-US" sz="2300" dirty="0" err="1"/>
              <a:t>extend_endpoints</a:t>
            </a:r>
            <a:r>
              <a:rPr lang="en-US" sz="2300" dirty="0"/>
              <a:t>: extend possible blobs at both ends of chosen trajectory</a:t>
            </a:r>
          </a:p>
          <a:p>
            <a:pPr marL="457200" lvl="1" indent="0">
              <a:buNone/>
            </a:pPr>
            <a:r>
              <a:rPr lang="en-US" sz="2300" dirty="0" err="1"/>
              <a:t>extract_longest_path_from_graph</a:t>
            </a:r>
            <a:r>
              <a:rPr lang="en-US" sz="2300" dirty="0"/>
              <a:t>: return final single trajectory</a:t>
            </a:r>
          </a:p>
          <a:p>
            <a:r>
              <a:rPr lang="en-US" sz="2300" dirty="0"/>
              <a:t>Sparkle filter: if chain median area &lt; 12.5% of 3rd-largest keep blob, retry DP on significant blobs only</a:t>
            </a:r>
          </a:p>
          <a:p>
            <a:r>
              <a:rPr lang="en-US" sz="2300" dirty="0" err="1"/>
              <a:t>extend_endpoints</a:t>
            </a:r>
            <a:r>
              <a:rPr lang="en-US" sz="2300" dirty="0"/>
              <a:t> — greedy extension up to 700px, angle ≤ 65°. Long jumps (&gt; 165px) require blob area ≥ 60% of chain median</a:t>
            </a:r>
          </a:p>
          <a:p>
            <a:r>
              <a:rPr lang="en-US" sz="2300" dirty="0"/>
              <a:t>Post-extension prune — any link &gt; 580px whose smaller side has &lt; 3 blobs → remove smaller side</a:t>
            </a:r>
          </a:p>
          <a:p>
            <a:r>
              <a:rPr lang="en-US" sz="2300" dirty="0"/>
              <a:t>Endpoint trim — trim endpoint if turn &gt; 38° AND area &lt; 5th-largest chain blob</a:t>
            </a:r>
          </a:p>
          <a:p>
            <a:pPr marL="0" indent="0">
              <a:buNone/>
            </a:pPr>
            <a:endParaRPr lang="en-US" sz="2300" dirty="0"/>
          </a:p>
        </p:txBody>
      </p:sp>
    </p:spTree>
    <p:extLst>
      <p:ext uri="{BB962C8B-B14F-4D97-AF65-F5344CB8AC3E}">
        <p14:creationId xmlns:p14="http://schemas.microsoft.com/office/powerpoint/2010/main" val="3403031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32802-9D22-7166-B79D-48FA95EA07CC}"/>
              </a:ext>
            </a:extLst>
          </p:cNvPr>
          <p:cNvSpPr>
            <a:spLocks noGrp="1"/>
          </p:cNvSpPr>
          <p:nvPr>
            <p:ph type="title"/>
          </p:nvPr>
        </p:nvSpPr>
        <p:spPr>
          <a:xfrm>
            <a:off x="838200" y="-210611"/>
            <a:ext cx="10515600" cy="1325563"/>
          </a:xfrm>
        </p:spPr>
        <p:txBody>
          <a:bodyPr/>
          <a:lstStyle/>
          <a:p>
            <a:r>
              <a:rPr lang="en-US" dirty="0" err="1"/>
              <a:t>suppress_shadow_components</a:t>
            </a:r>
            <a:endParaRPr lang="en-US" dirty="0"/>
          </a:p>
        </p:txBody>
      </p:sp>
      <p:sp>
        <p:nvSpPr>
          <p:cNvPr id="3" name="Content Placeholder 2">
            <a:extLst>
              <a:ext uri="{FF2B5EF4-FFF2-40B4-BE49-F238E27FC236}">
                <a16:creationId xmlns:a16="http://schemas.microsoft.com/office/drawing/2014/main" id="{5DE6CD40-1484-9157-E2EB-0B982A39DE5F}"/>
              </a:ext>
            </a:extLst>
          </p:cNvPr>
          <p:cNvSpPr>
            <a:spLocks noGrp="1"/>
          </p:cNvSpPr>
          <p:nvPr>
            <p:ph idx="1"/>
          </p:nvPr>
        </p:nvSpPr>
        <p:spPr>
          <a:xfrm>
            <a:off x="76199" y="948267"/>
            <a:ext cx="12005733" cy="5791200"/>
          </a:xfrm>
        </p:spPr>
        <p:txBody>
          <a:bodyPr>
            <a:normAutofit lnSpcReduction="10000"/>
          </a:bodyPr>
          <a:lstStyle/>
          <a:p>
            <a:r>
              <a:rPr lang="en-US" dirty="0"/>
              <a:t>Do shadow repression, these are classified as shadow:</a:t>
            </a:r>
          </a:p>
          <a:p>
            <a:r>
              <a:rPr lang="en-US" dirty="0"/>
              <a:t>Pass 1:</a:t>
            </a:r>
          </a:p>
          <a:p>
            <a:pPr lvl="1"/>
            <a:r>
              <a:rPr lang="en-US" dirty="0"/>
              <a:t>Blob near edge with area &lt; 300 pixels</a:t>
            </a:r>
          </a:p>
          <a:p>
            <a:pPr lvl="1"/>
            <a:r>
              <a:rPr lang="en-US" dirty="0"/>
              <a:t>B0: area&gt;0.8% of </a:t>
            </a:r>
            <a:r>
              <a:rPr lang="en-US" dirty="0" err="1"/>
              <a:t>img</a:t>
            </a:r>
            <a:r>
              <a:rPr lang="en-US" dirty="0"/>
              <a:t> (1080*1920)</a:t>
            </a:r>
          </a:p>
          <a:p>
            <a:pPr lvl="1"/>
            <a:r>
              <a:rPr lang="en-US" dirty="0"/>
              <a:t>sum of all blobs within 250px &gt; 2% of area is shadow,</a:t>
            </a:r>
          </a:p>
          <a:p>
            <a:pPr lvl="1"/>
            <a:r>
              <a:rPr lang="en-US" dirty="0"/>
              <a:t>B1: Very large + very irregular blob: area &gt; 6×median AND solidity &lt; 0.35 OR area &gt; 8×median AND solidity &lt; 0.65</a:t>
            </a:r>
          </a:p>
          <a:p>
            <a:pPr marL="457200" lvl="1" indent="0">
              <a:buNone/>
            </a:pPr>
            <a:r>
              <a:rPr lang="en-US" dirty="0"/>
              <a:t>	solidity = blob area/smallest convex area. Shadows &lt;&lt;1, blobs ~1</a:t>
            </a:r>
          </a:p>
          <a:p>
            <a:pPr lvl="1"/>
            <a:r>
              <a:rPr lang="en-US" dirty="0"/>
              <a:t>B2: area &gt; 8×median AND solidity &lt; 0.65. When surrounding 250px have &gt;=3, run linearity check, if &lt;4, likely shadow.</a:t>
            </a:r>
          </a:p>
          <a:p>
            <a:pPr lvl="1"/>
            <a:r>
              <a:rPr lang="en-US" dirty="0"/>
              <a:t>Linearity: For all blobs not classified as shadow for above filters, if ≥3 significant nearby blobs and PCA ratio &lt; 4, classify the blob as shadow</a:t>
            </a:r>
          </a:p>
          <a:p>
            <a:r>
              <a:rPr lang="en-US" dirty="0"/>
              <a:t>Pass 2: apply to all shadows identified by pass 1, if linearity &gt;3.5 not classify as a shadow anymore. The reason is a blob near a shadow in pass 1 maybe suppressed. Now shadows removed, add legit one back</a:t>
            </a:r>
          </a:p>
        </p:txBody>
      </p:sp>
    </p:spTree>
    <p:extLst>
      <p:ext uri="{BB962C8B-B14F-4D97-AF65-F5344CB8AC3E}">
        <p14:creationId xmlns:p14="http://schemas.microsoft.com/office/powerpoint/2010/main" val="2984200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9E84-4AE9-EEAF-FD4F-F504F2CB38D6}"/>
              </a:ext>
            </a:extLst>
          </p:cNvPr>
          <p:cNvSpPr>
            <a:spLocks noGrp="1"/>
          </p:cNvSpPr>
          <p:nvPr>
            <p:ph type="title"/>
          </p:nvPr>
        </p:nvSpPr>
        <p:spPr/>
        <p:txBody>
          <a:bodyPr/>
          <a:lstStyle/>
          <a:p>
            <a:r>
              <a:rPr lang="en-US" dirty="0" err="1"/>
              <a:t>direction_constrained_chain</a:t>
            </a:r>
            <a:endParaRPr lang="en-US" dirty="0"/>
          </a:p>
        </p:txBody>
      </p:sp>
      <p:sp>
        <p:nvSpPr>
          <p:cNvPr id="3" name="Content Placeholder 2">
            <a:extLst>
              <a:ext uri="{FF2B5EF4-FFF2-40B4-BE49-F238E27FC236}">
                <a16:creationId xmlns:a16="http://schemas.microsoft.com/office/drawing/2014/main" id="{4F218730-5910-F669-C66D-7A6DED94E950}"/>
              </a:ext>
            </a:extLst>
          </p:cNvPr>
          <p:cNvSpPr>
            <a:spLocks noGrp="1"/>
          </p:cNvSpPr>
          <p:nvPr>
            <p:ph idx="1"/>
          </p:nvPr>
        </p:nvSpPr>
        <p:spPr/>
        <p:txBody>
          <a:bodyPr/>
          <a:lstStyle/>
          <a:p>
            <a:r>
              <a:rPr lang="en-US" dirty="0"/>
              <a:t>There may be many possible path, only one is valid. </a:t>
            </a:r>
          </a:p>
          <a:p>
            <a:r>
              <a:rPr lang="en-US" dirty="0"/>
              <a:t>use bellman-ford DP, score-evaluate each path, determine best trajectory</a:t>
            </a:r>
          </a:p>
          <a:p>
            <a:r>
              <a:rPr lang="en-US" dirty="0"/>
              <a:t>Score = chain blob total area + 0.1×median blob area (end handle)+</a:t>
            </a:r>
            <a:r>
              <a:rPr lang="en-US" dirty="0" err="1"/>
              <a:t>dist</a:t>
            </a:r>
            <a:r>
              <a:rPr lang="en-US" dirty="0"/>
              <a:t>(</a:t>
            </a:r>
            <a:r>
              <a:rPr lang="en-US" dirty="0" err="1"/>
              <a:t>j→k</a:t>
            </a:r>
            <a:r>
              <a:rPr lang="en-US" dirty="0"/>
              <a:t>) × 0.001, must have adjacent blob straight line connection angle &lt; CFG[</a:t>
            </a:r>
            <a:r>
              <a:rPr lang="en-US" dirty="0" err="1"/>
              <a:t>chain_max_angle_deg</a:t>
            </a:r>
            <a:r>
              <a:rPr lang="en-US" dirty="0"/>
              <a:t>: 55 deg], AND adjacent blob </a:t>
            </a:r>
            <a:r>
              <a:rPr lang="en-US" dirty="0" err="1"/>
              <a:t>dist</a:t>
            </a:r>
            <a:r>
              <a:rPr lang="en-US" dirty="0"/>
              <a:t> &lt; CFG[</a:t>
            </a:r>
            <a:r>
              <a:rPr lang="en-US" dirty="0" err="1"/>
              <a:t>max_link_dist</a:t>
            </a:r>
            <a:r>
              <a:rPr lang="en-US" dirty="0"/>
              <a:t>: 165 pix] </a:t>
            </a:r>
          </a:p>
        </p:txBody>
      </p:sp>
    </p:spTree>
    <p:extLst>
      <p:ext uri="{BB962C8B-B14F-4D97-AF65-F5344CB8AC3E}">
        <p14:creationId xmlns:p14="http://schemas.microsoft.com/office/powerpoint/2010/main" val="1840875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23811-E1E6-7C56-8AB9-8AE2F3682541}"/>
              </a:ext>
            </a:extLst>
          </p:cNvPr>
          <p:cNvSpPr>
            <a:spLocks noGrp="1"/>
          </p:cNvSpPr>
          <p:nvPr>
            <p:ph type="title"/>
          </p:nvPr>
        </p:nvSpPr>
        <p:spPr/>
        <p:txBody>
          <a:bodyPr/>
          <a:lstStyle/>
          <a:p>
            <a:r>
              <a:rPr lang="en-US" dirty="0" err="1"/>
              <a:t>extend_endpoints</a:t>
            </a:r>
            <a:endParaRPr lang="en-US" dirty="0"/>
          </a:p>
        </p:txBody>
      </p:sp>
      <p:sp>
        <p:nvSpPr>
          <p:cNvPr id="3" name="Content Placeholder 2">
            <a:extLst>
              <a:ext uri="{FF2B5EF4-FFF2-40B4-BE49-F238E27FC236}">
                <a16:creationId xmlns:a16="http://schemas.microsoft.com/office/drawing/2014/main" id="{31C64A5C-E45E-3E79-3C54-B8A46078DF96}"/>
              </a:ext>
            </a:extLst>
          </p:cNvPr>
          <p:cNvSpPr>
            <a:spLocks noGrp="1"/>
          </p:cNvSpPr>
          <p:nvPr>
            <p:ph idx="1"/>
          </p:nvPr>
        </p:nvSpPr>
        <p:spPr/>
        <p:txBody>
          <a:bodyPr/>
          <a:lstStyle/>
          <a:p>
            <a:r>
              <a:rPr lang="en-US" dirty="0"/>
              <a:t>The chosen trajectory may not include some blobs at one end of trajectory, this function adds them back.</a:t>
            </a:r>
          </a:p>
          <a:p>
            <a:r>
              <a:rPr lang="en-US" dirty="0"/>
              <a:t>greedy extension up to 230px, trajectory turning angle &lt;= 65°. Long jumps (&gt; 165px) require endpoint blob area &gt;= 60% of chain median</a:t>
            </a:r>
          </a:p>
        </p:txBody>
      </p:sp>
    </p:spTree>
    <p:extLst>
      <p:ext uri="{BB962C8B-B14F-4D97-AF65-F5344CB8AC3E}">
        <p14:creationId xmlns:p14="http://schemas.microsoft.com/office/powerpoint/2010/main" val="904245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3BA1C-7AD6-745B-7130-915035E4DB59}"/>
              </a:ext>
            </a:extLst>
          </p:cNvPr>
          <p:cNvSpPr>
            <a:spLocks noGrp="1"/>
          </p:cNvSpPr>
          <p:nvPr>
            <p:ph type="title"/>
          </p:nvPr>
        </p:nvSpPr>
        <p:spPr/>
        <p:txBody>
          <a:bodyPr/>
          <a:lstStyle/>
          <a:p>
            <a:r>
              <a:rPr lang="en-US" dirty="0" err="1"/>
              <a:t>extract_longest_path_from_graph</a:t>
            </a:r>
            <a:endParaRPr lang="en-US" dirty="0"/>
          </a:p>
        </p:txBody>
      </p:sp>
      <p:sp>
        <p:nvSpPr>
          <p:cNvPr id="3" name="Content Placeholder 2">
            <a:extLst>
              <a:ext uri="{FF2B5EF4-FFF2-40B4-BE49-F238E27FC236}">
                <a16:creationId xmlns:a16="http://schemas.microsoft.com/office/drawing/2014/main" id="{8414675B-A2D3-002F-A0E4-465B2F66EDBB}"/>
              </a:ext>
            </a:extLst>
          </p:cNvPr>
          <p:cNvSpPr>
            <a:spLocks noGrp="1"/>
          </p:cNvSpPr>
          <p:nvPr>
            <p:ph idx="1"/>
          </p:nvPr>
        </p:nvSpPr>
        <p:spPr/>
        <p:txBody>
          <a:bodyPr/>
          <a:lstStyle/>
          <a:p>
            <a:r>
              <a:rPr lang="en-US" dirty="0"/>
              <a:t>Output path</a:t>
            </a:r>
          </a:p>
          <a:p>
            <a:r>
              <a:rPr lang="en-US" dirty="0"/>
              <a:t>Calls </a:t>
            </a:r>
            <a:r>
              <a:rPr lang="en-US" dirty="0" err="1"/>
              <a:t>skeleton_to_graph</a:t>
            </a:r>
            <a:r>
              <a:rPr lang="en-US" dirty="0"/>
              <a:t>(): </a:t>
            </a:r>
            <a:r>
              <a:rPr lang="en-US" dirty="0" err="1"/>
              <a:t>skel</a:t>
            </a:r>
            <a:r>
              <a:rPr lang="en-US" dirty="0"/>
              <a:t> pixels → </a:t>
            </a:r>
            <a:r>
              <a:rPr lang="en-US" dirty="0" err="1"/>
              <a:t>NetworkX</a:t>
            </a:r>
            <a:r>
              <a:rPr lang="en-US" dirty="0"/>
              <a:t> graph</a:t>
            </a:r>
          </a:p>
          <a:p>
            <a:r>
              <a:rPr lang="en-US" dirty="0"/>
              <a:t>Calls </a:t>
            </a:r>
            <a:r>
              <a:rPr lang="en-US" dirty="0" err="1"/>
              <a:t>prune_short_branches</a:t>
            </a:r>
            <a:r>
              <a:rPr lang="en-US" dirty="0"/>
              <a:t>(): remove short dead-end branches</a:t>
            </a:r>
          </a:p>
        </p:txBody>
      </p:sp>
    </p:spTree>
    <p:extLst>
      <p:ext uri="{BB962C8B-B14F-4D97-AF65-F5344CB8AC3E}">
        <p14:creationId xmlns:p14="http://schemas.microsoft.com/office/powerpoint/2010/main" val="411158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51458-C080-6DA9-405D-A853777DB7EB}"/>
              </a:ext>
            </a:extLst>
          </p:cNvPr>
          <p:cNvSpPr>
            <a:spLocks noGrp="1"/>
          </p:cNvSpPr>
          <p:nvPr>
            <p:ph type="title"/>
          </p:nvPr>
        </p:nvSpPr>
        <p:spPr/>
        <p:txBody>
          <a:bodyPr/>
          <a:lstStyle/>
          <a:p>
            <a:r>
              <a:rPr lang="en-US" dirty="0"/>
              <a:t>Problems with current pipeline</a:t>
            </a:r>
          </a:p>
        </p:txBody>
      </p:sp>
      <p:sp>
        <p:nvSpPr>
          <p:cNvPr id="3" name="Content Placeholder 2">
            <a:extLst>
              <a:ext uri="{FF2B5EF4-FFF2-40B4-BE49-F238E27FC236}">
                <a16:creationId xmlns:a16="http://schemas.microsoft.com/office/drawing/2014/main" id="{C68B57E9-29DA-F73B-0FDF-DB83246F4A9F}"/>
              </a:ext>
            </a:extLst>
          </p:cNvPr>
          <p:cNvSpPr>
            <a:spLocks noGrp="1"/>
          </p:cNvSpPr>
          <p:nvPr>
            <p:ph idx="1"/>
          </p:nvPr>
        </p:nvSpPr>
        <p:spPr/>
        <p:txBody>
          <a:bodyPr/>
          <a:lstStyle/>
          <a:p>
            <a:r>
              <a:rPr lang="en-US" dirty="0"/>
              <a:t>Due to dark color blob nature, it’s inevitable to classify some shadow areas  as ink. Shadows at the robot arm is usually linear, so will sometimes be included in the trajectory like 6/107.</a:t>
            </a:r>
          </a:p>
          <a:p>
            <a:endParaRPr lang="en-US" dirty="0"/>
          </a:p>
        </p:txBody>
      </p:sp>
      <p:pic>
        <p:nvPicPr>
          <p:cNvPr id="5" name="Picture 4">
            <a:extLst>
              <a:ext uri="{FF2B5EF4-FFF2-40B4-BE49-F238E27FC236}">
                <a16:creationId xmlns:a16="http://schemas.microsoft.com/office/drawing/2014/main" id="{BE48CA85-B013-C036-70F0-6B148B50C3F9}"/>
              </a:ext>
            </a:extLst>
          </p:cNvPr>
          <p:cNvPicPr>
            <a:picLocks noChangeAspect="1"/>
          </p:cNvPicPr>
          <p:nvPr/>
        </p:nvPicPr>
        <p:blipFill>
          <a:blip r:embed="rId2"/>
          <a:stretch>
            <a:fillRect/>
          </a:stretch>
        </p:blipFill>
        <p:spPr>
          <a:xfrm>
            <a:off x="646693" y="3257307"/>
            <a:ext cx="11260121" cy="1895740"/>
          </a:xfrm>
          <a:prstGeom prst="rect">
            <a:avLst/>
          </a:prstGeom>
        </p:spPr>
      </p:pic>
    </p:spTree>
    <p:extLst>
      <p:ext uri="{BB962C8B-B14F-4D97-AF65-F5344CB8AC3E}">
        <p14:creationId xmlns:p14="http://schemas.microsoft.com/office/powerpoint/2010/main" val="1202274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31D0A-71B0-6590-B5CE-2BAA702FAEB1}"/>
              </a:ext>
            </a:extLst>
          </p:cNvPr>
          <p:cNvSpPr>
            <a:spLocks noGrp="1"/>
          </p:cNvSpPr>
          <p:nvPr>
            <p:ph type="title"/>
          </p:nvPr>
        </p:nvSpPr>
        <p:spPr/>
        <p:txBody>
          <a:bodyPr/>
          <a:lstStyle/>
          <a:p>
            <a:r>
              <a:rPr lang="en-US" dirty="0"/>
              <a:t>Bad sample</a:t>
            </a:r>
          </a:p>
        </p:txBody>
      </p:sp>
      <p:sp>
        <p:nvSpPr>
          <p:cNvPr id="3" name="Content Placeholder 2">
            <a:extLst>
              <a:ext uri="{FF2B5EF4-FFF2-40B4-BE49-F238E27FC236}">
                <a16:creationId xmlns:a16="http://schemas.microsoft.com/office/drawing/2014/main" id="{F61A3758-A5AD-D97B-9F09-0A3C609D2963}"/>
              </a:ext>
            </a:extLst>
          </p:cNvPr>
          <p:cNvSpPr>
            <a:spLocks noGrp="1"/>
          </p:cNvSpPr>
          <p:nvPr>
            <p:ph idx="1"/>
          </p:nvPr>
        </p:nvSpPr>
        <p:spPr/>
        <p:txBody>
          <a:bodyPr/>
          <a:lstStyle/>
          <a:p>
            <a:r>
              <a:rPr lang="en-US" dirty="0"/>
              <a:t>40 folder</a:t>
            </a:r>
          </a:p>
          <a:p>
            <a:r>
              <a:rPr lang="en-US" dirty="0"/>
              <a:t>9 folder later samples</a:t>
            </a:r>
          </a:p>
        </p:txBody>
      </p:sp>
      <p:pic>
        <p:nvPicPr>
          <p:cNvPr id="5" name="Picture 4">
            <a:extLst>
              <a:ext uri="{FF2B5EF4-FFF2-40B4-BE49-F238E27FC236}">
                <a16:creationId xmlns:a16="http://schemas.microsoft.com/office/drawing/2014/main" id="{90BE3C28-CE4A-8FA5-D5AD-9F2C147B052D}"/>
              </a:ext>
            </a:extLst>
          </p:cNvPr>
          <p:cNvPicPr>
            <a:picLocks noChangeAspect="1"/>
          </p:cNvPicPr>
          <p:nvPr/>
        </p:nvPicPr>
        <p:blipFill>
          <a:blip r:embed="rId2"/>
          <a:stretch>
            <a:fillRect/>
          </a:stretch>
        </p:blipFill>
        <p:spPr>
          <a:xfrm>
            <a:off x="624321" y="2775184"/>
            <a:ext cx="11241069" cy="1924319"/>
          </a:xfrm>
          <a:prstGeom prst="rect">
            <a:avLst/>
          </a:prstGeom>
        </p:spPr>
      </p:pic>
    </p:spTree>
    <p:extLst>
      <p:ext uri="{BB962C8B-B14F-4D97-AF65-F5344CB8AC3E}">
        <p14:creationId xmlns:p14="http://schemas.microsoft.com/office/powerpoint/2010/main" val="3055650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6449</TotalTime>
  <Words>930</Words>
  <Application>Microsoft Office PowerPoint</Application>
  <PresentationFormat>Widescreen</PresentationFormat>
  <Paragraphs>55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Build_tissue_roi improvement</vt:lpstr>
      <vt:lpstr>Segment_dark_marker construction</vt:lpstr>
      <vt:lpstr>Segmert_dark_marker problem</vt:lpstr>
      <vt:lpstr>Trace trajectory problem </vt:lpstr>
      <vt:lpstr>Trajectory modification for dark_mode:</vt:lpstr>
      <vt:lpstr>suppress_shadow_components</vt:lpstr>
      <vt:lpstr>direction_constrained_chain</vt:lpstr>
      <vt:lpstr>extend_endpoints</vt:lpstr>
      <vt:lpstr>extract_longest_path_from_graph</vt:lpstr>
      <vt:lpstr>Problems with current pipeline</vt:lpstr>
      <vt:lpstr>Bad sample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Jiuzhou Cheng</dc:creator>
  <cp:lastModifiedBy>Jiuzhou Cheng</cp:lastModifiedBy>
  <cp:revision>6</cp:revision>
  <dcterms:created xsi:type="dcterms:W3CDTF">2026-03-02T09:16:36Z</dcterms:created>
  <dcterms:modified xsi:type="dcterms:W3CDTF">2026-03-18T14:34:00Z</dcterms:modified>
</cp:coreProperties>
</file>